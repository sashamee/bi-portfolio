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715000" cx="127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747775"/>
          </p15:clr>
        </p15:guide>
        <p15:guide id="2" pos="401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401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d9aef6e9_0_1:notes"/>
          <p:cNvSpPr/>
          <p:nvPr>
            <p:ph idx="2" type="sldImg"/>
          </p:nvPr>
        </p:nvSpPr>
        <p:spPr>
          <a:xfrm>
            <a:off x="-393900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d9aef6e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“I wanted to understand not just how many users are active, but who they are and how valuable their activity actually is.”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4e04ac31a_0_80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4e04ac31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4e04ac31a_0_74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4e04ac31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3d9aef6e9_0_16:notes"/>
          <p:cNvSpPr/>
          <p:nvPr>
            <p:ph idx="2" type="sldImg"/>
          </p:nvPr>
        </p:nvSpPr>
        <p:spPr>
          <a:xfrm>
            <a:off x="-393900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3d9aef6e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e04ac31a_0_7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4e04ac31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DAU can stay flat even if users are churning or doing minimal activity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4e04ac31a_0_14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4e04ac31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4e04ac31a_0_21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4e04ac31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explains </a:t>
            </a:r>
            <a:r>
              <a:rPr i="1" lang="en">
                <a:solidFill>
                  <a:schemeClr val="dk1"/>
                </a:solidFill>
              </a:rPr>
              <a:t>why</a:t>
            </a:r>
            <a:r>
              <a:rPr lang="en">
                <a:solidFill>
                  <a:schemeClr val="dk1"/>
                </a:solidFill>
              </a:rPr>
              <a:t> DAU changes — not just that it changes.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4e04ac31a_0_32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4e04ac31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e04ac31a_0_39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4e04ac31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metric shows whether growth is sustainable or requires constant new users.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4e04ac31a_0_47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4e04ac31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4e04ac31a_0_54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4e04ac31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ETH moved is dominated by whales; median shows what most users actually do.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4e04ac31a_0_62:notes"/>
          <p:cNvSpPr/>
          <p:nvPr>
            <p:ph idx="2" type="sldImg"/>
          </p:nvPr>
        </p:nvSpPr>
        <p:spPr>
          <a:xfrm>
            <a:off x="-393896" y="685800"/>
            <a:ext cx="764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4e04ac31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single metric tells the full story — combining them does.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34428" y="827306"/>
            <a:ext cx="118752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34417" y="3149028"/>
            <a:ext cx="118752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34417" y="2389833"/>
            <a:ext cx="11875200" cy="93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34417" y="1280528"/>
            <a:ext cx="11875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34417" y="1280528"/>
            <a:ext cx="5574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6734920" y="1280528"/>
            <a:ext cx="55746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34417" y="617333"/>
            <a:ext cx="39135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34417" y="1544000"/>
            <a:ext cx="3913500" cy="3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683262" y="500167"/>
            <a:ext cx="88749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372000" y="-139"/>
            <a:ext cx="63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70028" y="1370194"/>
            <a:ext cx="5637900" cy="164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70028" y="3114528"/>
            <a:ext cx="5637900" cy="13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6884185" y="804528"/>
            <a:ext cx="53475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34417" y="4700639"/>
            <a:ext cx="8360400" cy="67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34417" y="1229028"/>
            <a:ext cx="11875200" cy="218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34417" y="3502472"/>
            <a:ext cx="11875200" cy="144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34417" y="1280528"/>
            <a:ext cx="11875200" cy="37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808071" y="5181352"/>
            <a:ext cx="764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34428" y="827306"/>
            <a:ext cx="11875200" cy="228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Ethereum User Activity: Beyond DAU</a:t>
            </a:r>
            <a:endParaRPr sz="36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988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Understanding engagement, retention, and value using on-chain data</a:t>
            </a:r>
            <a:endParaRPr sz="1988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00"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34417" y="3149028"/>
            <a:ext cx="11875200" cy="8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By Sasha Meerovich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434425" y="494478"/>
            <a:ext cx="11875200" cy="12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How Do New vs Returning Users Behave on Ethereum Over Time?</a:t>
            </a:r>
            <a:endParaRPr b="1" sz="2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0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Understanding engagement, retention, and value beyond DAU</a:t>
            </a:r>
            <a:endParaRPr i="1" sz="20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34425" y="1519600"/>
            <a:ext cx="11875200" cy="355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On-chain activity analysis using Ethereum transaction data</a:t>
            </a:r>
            <a:br>
              <a:rPr lang="en" sz="19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br>
              <a:rPr lang="en" sz="19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r>
              <a:rPr lang="en" sz="19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The Analysis specifies on:</a:t>
            </a:r>
            <a:endParaRPr sz="800" u="sng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Droid Sans"/>
              <a:buChar char="●"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DAU is widely used but often misleading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●"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Not all active users contribute equally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roid Sans"/>
              <a:buChar char="●"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This analysis combines activity, composition, and value metrics</a:t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Key Concepts</a:t>
            </a:r>
            <a:endParaRPr b="1" sz="2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34417" y="1280528"/>
            <a:ext cx="11875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User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: A unique wallet address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Activity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: On-chain transactions recorded on Ethereum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DAU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: Unique wallets performing at least one transaction per day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New users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: Wallets interacting on-chain for the first time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Returning users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: Wallets that were active in the past and returned</a:t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434425" y="426649"/>
            <a:ext cx="11875200" cy="464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This analysis focuses on:</a:t>
            </a:r>
            <a:b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b="1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Daily Active Users (DAU)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New vs Returning Users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Median value per active wallet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The impact of whale activity on averages</a:t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420" u="sng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Daily Active Users (DAU)</a:t>
            </a:r>
            <a:endParaRPr sz="2420" u="sng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3172"/>
            <a:ext cx="1236345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434392" y="4549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 Daily Active Users (DAU)</a:t>
            </a:r>
            <a:r>
              <a:rPr lang="en" sz="27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 </a:t>
            </a:r>
            <a:endParaRPr sz="4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434417" y="1254178"/>
            <a:ext cx="11875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Key bullets</a:t>
            </a:r>
            <a:endParaRPr b="1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DAU measures </a:t>
            </a:r>
            <a:r>
              <a:rPr i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how many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 users are active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22860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It does </a:t>
            </a: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not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 explain:</a:t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How much activity users perform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Whether users are new or retained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Whether activity is economically meaningful</a:t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New vs Returning Users (Who drives DAU)</a:t>
            </a:r>
            <a:endParaRPr sz="2400" u="sng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3172"/>
            <a:ext cx="11599269" cy="4279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34417" y="1652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Who Are the Active Users?</a:t>
            </a:r>
            <a:endParaRPr sz="2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434425" y="801575"/>
            <a:ext cx="11875200" cy="42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Key bullets</a:t>
            </a:r>
            <a:endParaRPr b="1"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●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Splits DAU into new and returning wallets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●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Reveals whether activity comes from: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○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Retention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○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One-time onboarding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●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Same DAU can represent very different behaviors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Changes in DAU can be driven by either retention or constant onboarding, which have very different implications for network sustainability.</a:t>
            </a: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New User Share (Acquisition vs Retention Pressure)</a:t>
            </a:r>
            <a:endParaRPr sz="2400" u="sng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75" y="1520197"/>
            <a:ext cx="12363450" cy="357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Acquisition vs Retention Pressure</a:t>
            </a:r>
            <a:endParaRPr sz="2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434417" y="1280528"/>
            <a:ext cx="11875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Key bullets</a:t>
            </a:r>
            <a:endParaRPr b="1"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●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New User Share = New users / DAU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●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High share → acquisition-driven activity</a:t>
            </a:r>
            <a:b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Droid Sans"/>
              <a:buChar char="●"/>
            </a:pPr>
            <a:r>
              <a:rPr lang="en" sz="16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Low share → retention-driven activity</a:t>
            </a:r>
            <a:endParaRPr sz="16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Median ETH per Active Wallet (Value)</a:t>
            </a:r>
            <a:endParaRPr sz="2400" u="sng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pic>
        <p:nvPicPr>
          <p:cNvPr id="114" name="Google Shape;11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275" y="1717722"/>
            <a:ext cx="12363450" cy="355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How Valuable Is Typical User Activity?</a:t>
            </a:r>
            <a:endParaRPr sz="2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>
            <a:off x="434417" y="1280528"/>
            <a:ext cx="11875200" cy="37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Why median ETH moved per active wallet?</a:t>
            </a:r>
            <a:endParaRPr b="1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Average values are dominated by a small number of whale wallets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Median (p50) reflects </a:t>
            </a:r>
            <a:r>
              <a:rPr i="1"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typical</a:t>
            </a: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 user behavior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●"/>
            </a:pPr>
            <a: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This helps distinguish:</a:t>
            </a:r>
            <a:br>
              <a:rPr lang="en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○"/>
            </a:pPr>
            <a:r>
              <a:rPr lang="en" sz="18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Broad-based engagement</a:t>
            </a:r>
            <a:br>
              <a:rPr lang="en" sz="18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</a:br>
            <a:endParaRPr sz="18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Droid Sans"/>
              <a:buChar char="○"/>
            </a:pPr>
            <a:r>
              <a:rPr lang="en" sz="1800">
                <a:solidFill>
                  <a:srgbClr val="666666"/>
                </a:solidFill>
                <a:latin typeface="Droid Sans"/>
                <a:ea typeface="Droid Sans"/>
                <a:cs typeface="Droid Sans"/>
                <a:sym typeface="Droid Sans"/>
              </a:rPr>
              <a:t>Value concentrated among few participants</a:t>
            </a:r>
            <a:endParaRPr sz="1800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666666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>
            <a:off x="434417" y="494472"/>
            <a:ext cx="11875200" cy="6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434343"/>
                </a:solidFill>
                <a:latin typeface="Droid Sans"/>
                <a:ea typeface="Droid Sans"/>
                <a:cs typeface="Droid Sans"/>
                <a:sym typeface="Droid Sans"/>
              </a:rPr>
              <a:t>Key Takeaways </a:t>
            </a:r>
            <a:endParaRPr sz="2400">
              <a:solidFill>
                <a:srgbClr val="434343"/>
              </a:solidFill>
              <a:latin typeface="Droid Sans"/>
              <a:ea typeface="Droid Sans"/>
              <a:cs typeface="Droid Sans"/>
              <a:sym typeface="Droid Sans"/>
            </a:endParaRPr>
          </a:p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>
            <a:off x="434425" y="1280525"/>
            <a:ext cx="11875200" cy="42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DAU alone overstates user engagement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User composition explains DAU dynamics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Acquisition-driven activity differs from retention-driven activity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Median-based metrics better represent typical user value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Droid Sans"/>
                <a:ea typeface="Droid Sans"/>
                <a:cs typeface="Droid Sans"/>
                <a:sym typeface="Droid Sans"/>
              </a:rPr>
              <a:t>Meaningful engagement analysis requires multiple complementary metrics</a:t>
            </a:r>
            <a:br>
              <a:rPr lang="en">
                <a:latin typeface="Droid Sans"/>
                <a:ea typeface="Droid Sans"/>
                <a:cs typeface="Droid Sans"/>
                <a:sym typeface="Droid Sans"/>
              </a:rPr>
            </a:br>
            <a:endParaRPr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latin typeface="Droid Sans"/>
                <a:ea typeface="Droid Sans"/>
                <a:cs typeface="Droid Sans"/>
                <a:sym typeface="Droid Sans"/>
              </a:rPr>
              <a:t>Together, these metrics provide a more realistic picture of network engagement than any single headline metric.</a:t>
            </a:r>
            <a:endParaRPr u="sng">
              <a:latin typeface="Droid Sans"/>
              <a:ea typeface="Droid Sans"/>
              <a:cs typeface="Droid Sans"/>
              <a:sym typeface="Droid San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Droid Sans"/>
              <a:ea typeface="Droid Sans"/>
              <a:cs typeface="Droid Sans"/>
              <a:sym typeface="Droid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